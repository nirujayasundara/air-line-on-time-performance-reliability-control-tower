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086BBA-E2F7-4378-A0E4-E897C4559EF0}" v="1" dt="2026-04-16T12:20:47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34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osha Jayasundara" userId="3c5f7a090b2f9e1f" providerId="LiveId" clId="{269D638A-1EE4-4BF9-9477-9F131B93FB09}"/>
    <pc:docChg chg="undo custSel modSld">
      <pc:chgData name="Nirosha Jayasundara" userId="3c5f7a090b2f9e1f" providerId="LiveId" clId="{269D638A-1EE4-4BF9-9477-9F131B93FB09}" dt="2026-04-16T12:22:58.245" v="49" actId="113"/>
      <pc:docMkLst>
        <pc:docMk/>
      </pc:docMkLst>
      <pc:sldChg chg="addSp modSp mod">
        <pc:chgData name="Nirosha Jayasundara" userId="3c5f7a090b2f9e1f" providerId="LiveId" clId="{269D638A-1EE4-4BF9-9477-9F131B93FB09}" dt="2026-04-16T11:48:11.505" v="8" actId="14100"/>
        <pc:sldMkLst>
          <pc:docMk/>
          <pc:sldMk cId="0" sldId="260"/>
        </pc:sldMkLst>
        <pc:spChg chg="mod">
          <ac:chgData name="Nirosha Jayasundara" userId="3c5f7a090b2f9e1f" providerId="LiveId" clId="{269D638A-1EE4-4BF9-9477-9F131B93FB09}" dt="2026-04-16T11:47:48.593" v="4" actId="20577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Nirosha Jayasundara" userId="3c5f7a090b2f9e1f" providerId="LiveId" clId="{269D638A-1EE4-4BF9-9477-9F131B93FB09}" dt="2026-04-16T11:48:11.505" v="8" actId="14100"/>
          <ac:picMkLst>
            <pc:docMk/>
            <pc:sldMk cId="0" sldId="260"/>
            <ac:picMk id="5" creationId="{A8A1FEAD-DA00-5582-A568-23F720AB23AA}"/>
          </ac:picMkLst>
        </pc:picChg>
      </pc:sldChg>
      <pc:sldChg chg="addSp delSp modSp mod">
        <pc:chgData name="Nirosha Jayasundara" userId="3c5f7a090b2f9e1f" providerId="LiveId" clId="{269D638A-1EE4-4BF9-9477-9F131B93FB09}" dt="2026-04-16T11:58:45.323" v="16" actId="1076"/>
        <pc:sldMkLst>
          <pc:docMk/>
          <pc:sldMk cId="0" sldId="261"/>
        </pc:sldMkLst>
        <pc:spChg chg="mod">
          <ac:chgData name="Nirosha Jayasundara" userId="3c5f7a090b2f9e1f" providerId="LiveId" clId="{269D638A-1EE4-4BF9-9477-9F131B93FB09}" dt="2026-04-16T11:48:54.774" v="13" actId="20577"/>
          <ac:spMkLst>
            <pc:docMk/>
            <pc:sldMk cId="0" sldId="261"/>
            <ac:spMk id="3" creationId="{00000000-0000-0000-0000-000000000000}"/>
          </ac:spMkLst>
        </pc:spChg>
        <pc:picChg chg="add del mod">
          <ac:chgData name="Nirosha Jayasundara" userId="3c5f7a090b2f9e1f" providerId="LiveId" clId="{269D638A-1EE4-4BF9-9477-9F131B93FB09}" dt="2026-04-16T11:58:22.874" v="14" actId="478"/>
          <ac:picMkLst>
            <pc:docMk/>
            <pc:sldMk cId="0" sldId="261"/>
            <ac:picMk id="5" creationId="{53C0DE82-DD3A-AF47-38AA-239F92CF6201}"/>
          </ac:picMkLst>
        </pc:picChg>
        <pc:picChg chg="add mod">
          <ac:chgData name="Nirosha Jayasundara" userId="3c5f7a090b2f9e1f" providerId="LiveId" clId="{269D638A-1EE4-4BF9-9477-9F131B93FB09}" dt="2026-04-16T11:58:45.323" v="16" actId="1076"/>
          <ac:picMkLst>
            <pc:docMk/>
            <pc:sldMk cId="0" sldId="261"/>
            <ac:picMk id="7" creationId="{D17A9B6D-119C-A016-3129-4805E0E7F737}"/>
          </ac:picMkLst>
        </pc:picChg>
      </pc:sldChg>
      <pc:sldChg chg="addSp modSp mod">
        <pc:chgData name="Nirosha Jayasundara" userId="3c5f7a090b2f9e1f" providerId="LiveId" clId="{269D638A-1EE4-4BF9-9477-9F131B93FB09}" dt="2026-04-16T11:59:30.783" v="21" actId="20577"/>
        <pc:sldMkLst>
          <pc:docMk/>
          <pc:sldMk cId="0" sldId="262"/>
        </pc:sldMkLst>
        <pc:spChg chg="mod">
          <ac:chgData name="Nirosha Jayasundara" userId="3c5f7a090b2f9e1f" providerId="LiveId" clId="{269D638A-1EE4-4BF9-9477-9F131B93FB09}" dt="2026-04-16T11:59:30.783" v="21" actId="20577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Nirosha Jayasundara" userId="3c5f7a090b2f9e1f" providerId="LiveId" clId="{269D638A-1EE4-4BF9-9477-9F131B93FB09}" dt="2026-04-16T11:59:21.799" v="17" actId="931"/>
          <ac:picMkLst>
            <pc:docMk/>
            <pc:sldMk cId="0" sldId="262"/>
            <ac:picMk id="5" creationId="{5AE1A12C-B4C7-8832-3165-86F9981D5FF7}"/>
          </ac:picMkLst>
        </pc:picChg>
      </pc:sldChg>
      <pc:sldChg chg="addSp delSp modSp mod">
        <pc:chgData name="Nirosha Jayasundara" userId="3c5f7a090b2f9e1f" providerId="LiveId" clId="{269D638A-1EE4-4BF9-9477-9F131B93FB09}" dt="2026-04-16T12:22:58.245" v="49" actId="113"/>
        <pc:sldMkLst>
          <pc:docMk/>
          <pc:sldMk cId="0" sldId="263"/>
        </pc:sldMkLst>
        <pc:spChg chg="del mod">
          <ac:chgData name="Nirosha Jayasundara" userId="3c5f7a090b2f9e1f" providerId="LiveId" clId="{269D638A-1EE4-4BF9-9477-9F131B93FB09}" dt="2026-04-16T12:22:26.989" v="43" actId="478"/>
          <ac:spMkLst>
            <pc:docMk/>
            <pc:sldMk cId="0" sldId="263"/>
            <ac:spMk id="3" creationId="{00000000-0000-0000-0000-000000000000}"/>
          </ac:spMkLst>
        </pc:spChg>
        <pc:graphicFrameChg chg="add mod modGraphic">
          <ac:chgData name="Nirosha Jayasundara" userId="3c5f7a090b2f9e1f" providerId="LiveId" clId="{269D638A-1EE4-4BF9-9477-9F131B93FB09}" dt="2026-04-16T12:22:58.245" v="49" actId="113"/>
          <ac:graphicFrameMkLst>
            <pc:docMk/>
            <pc:sldMk cId="0" sldId="263"/>
            <ac:graphicFrameMk id="4" creationId="{358F0821-BA1B-FFF1-8D88-071A0112B8C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85100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7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0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9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2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54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9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68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71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57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94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89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69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79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29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4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British</a:t>
            </a:r>
            <a:r>
              <a:rPr b="1" dirty="0"/>
              <a:t> Airline On-Time Performance &amp; Reliability Control Tower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Operations Analytics Capstone Project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Nirosha Jayasundara</a:t>
            </a:r>
          </a:p>
          <a:p>
            <a:pPr marL="0" indent="0">
              <a:buNone/>
            </a:pPr>
            <a:r>
              <a:rPr dirty="0"/>
              <a:t>15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Delays caused by inbound propagation, congestion, turnaround inefficiencies.</a:t>
            </a:r>
          </a:p>
          <a:p>
            <a:r>
              <a:t>Objective: Build a control tower for proactive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Flight operations, airport performance, weather data.</a:t>
            </a:r>
          </a:p>
          <a:p>
            <a:r>
              <a:t>KPIs, root cause analysis, dashboarding.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D15 Rate</a:t>
            </a:r>
            <a:endParaRPr lang="en-GB" dirty="0"/>
          </a:p>
          <a:p>
            <a:r>
              <a:rPr dirty="0"/>
              <a:t> Avg Departure Delay</a:t>
            </a:r>
            <a:endParaRPr lang="en-GB" dirty="0"/>
          </a:p>
          <a:p>
            <a:r>
              <a:rPr dirty="0"/>
              <a:t> Delay Propagation Rate</a:t>
            </a:r>
            <a:endParaRPr lang="en-GB" dirty="0"/>
          </a:p>
          <a:p>
            <a:r>
              <a:rPr dirty="0"/>
              <a:t> Turnaround Overrun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r>
              <a:rPr dirty="0"/>
              <a:t>Inbound delay strongly drives departure delay.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1FEAD-DA00-5582-A568-23F720AB2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29" y="2078625"/>
            <a:ext cx="3646714" cy="24498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dirty="0"/>
              <a:t>Delays accumulate through the day, peaking in the afternoon.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7A9B6D-119C-A016-3129-4805E0E7F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337" y="1885766"/>
            <a:ext cx="6306430" cy="26292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dirty="0"/>
              <a:t>Major hub congestion worsens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1A12C-B4C7-8832-3165-86F9981D5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655" y="1995287"/>
            <a:ext cx="4048690" cy="2867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Decision Options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8F0821-BA1B-FFF1-8D88-071A0112B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614915"/>
              </p:ext>
            </p:extLst>
          </p:nvPr>
        </p:nvGraphicFramePr>
        <p:xfrm>
          <a:off x="979714" y="2188028"/>
          <a:ext cx="7707087" cy="2830284"/>
        </p:xfrm>
        <a:graphic>
          <a:graphicData uri="http://schemas.openxmlformats.org/drawingml/2006/table">
            <a:tbl>
              <a:tblPr/>
              <a:tblGrid>
                <a:gridCol w="2570995">
                  <a:extLst>
                    <a:ext uri="{9D8B030D-6E8A-4147-A177-3AD203B41FA5}">
                      <a16:colId xmlns:a16="http://schemas.microsoft.com/office/drawing/2014/main" val="1076096065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365249956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409460543"/>
                    </a:ext>
                  </a:extLst>
                </a:gridCol>
              </a:tblGrid>
              <a:tr h="707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Benefit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Trade-off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90644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Increase buffer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Reduce delays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Lower utilization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30502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Focus on high-risk flights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Targeted 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Requires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685293"/>
                  </a:ext>
                </a:extLst>
              </a:tr>
              <a:tr h="707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Improve turnaround 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Faster recovery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Resource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8934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Reduce propagation</a:t>
            </a:r>
            <a:endParaRPr lang="en-GB" dirty="0"/>
          </a:p>
          <a:p>
            <a:r>
              <a:rPr dirty="0"/>
              <a:t> manage high‑risk flights</a:t>
            </a:r>
            <a:endParaRPr lang="en-GB" dirty="0"/>
          </a:p>
          <a:p>
            <a:r>
              <a:rPr dirty="0"/>
              <a:t> optimize airports</a:t>
            </a:r>
            <a:endParaRPr lang="en-GB" dirty="0"/>
          </a:p>
          <a:p>
            <a:r>
              <a:rPr dirty="0"/>
              <a:t> adjust schedules.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Improved D15</a:t>
            </a:r>
            <a:endParaRPr lang="en-GB" dirty="0"/>
          </a:p>
          <a:p>
            <a:r>
              <a:rPr dirty="0"/>
              <a:t> lower average delays</a:t>
            </a:r>
            <a:endParaRPr lang="en-GB" dirty="0"/>
          </a:p>
          <a:p>
            <a:r>
              <a:rPr dirty="0"/>
              <a:t> higher reliability.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Synthetic data</a:t>
            </a:r>
            <a:endParaRPr lang="en-GB" dirty="0"/>
          </a:p>
          <a:p>
            <a:r>
              <a:rPr dirty="0"/>
              <a:t> simplified weather</a:t>
            </a:r>
            <a:endParaRPr lang="en-GB" dirty="0"/>
          </a:p>
          <a:p>
            <a:r>
              <a:rPr dirty="0"/>
              <a:t> no real‑time constraints.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Real‑time monitoring</a:t>
            </a:r>
            <a:endParaRPr lang="en-GB" dirty="0"/>
          </a:p>
          <a:p>
            <a:r>
              <a:rPr dirty="0"/>
              <a:t> predictive model</a:t>
            </a:r>
            <a:endParaRPr lang="en-GB" dirty="0"/>
          </a:p>
          <a:p>
            <a:r>
              <a:rPr dirty="0"/>
              <a:t> crew &amp; maintenance integration.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Custom 3">
      <a:dk1>
        <a:srgbClr val="002060"/>
      </a:dk1>
      <a:lt1>
        <a:sysClr val="window" lastClr="FFFFFF"/>
      </a:lt1>
      <a:dk2>
        <a:srgbClr val="212121"/>
      </a:dk2>
      <a:lt2>
        <a:srgbClr val="A4D5C9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1248</TotalTime>
  <Words>198</Words>
  <Application>Microsoft Office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British Airline On-Time Performance &amp; Reliability Control Tower</vt:lpstr>
      <vt:lpstr>Business Problem &amp; Objective</vt:lpstr>
      <vt:lpstr>Data &amp; Methodology</vt:lpstr>
      <vt:lpstr>Operational KPIs</vt:lpstr>
      <vt:lpstr>Key Finding 1</vt:lpstr>
      <vt:lpstr>Key Finding 2</vt:lpstr>
      <vt:lpstr>Key Finding 3</vt:lpstr>
      <vt:lpstr>Decision Options</vt:lpstr>
      <vt:lpstr>Recommended Actions</vt:lpstr>
      <vt:lpstr>Expected Impact</vt:lpstr>
      <vt:lpstr>Risks &amp; Assumptions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Nirosha Jayasundara</dc:creator>
  <cp:keywords/>
  <dc:description>generated using python-pptx</dc:description>
  <cp:lastModifiedBy>Nirosha Jayasundara</cp:lastModifiedBy>
  <cp:revision>2</cp:revision>
  <dcterms:created xsi:type="dcterms:W3CDTF">2013-01-27T09:14:16Z</dcterms:created>
  <dcterms:modified xsi:type="dcterms:W3CDTF">2026-04-16T12:23:03Z</dcterms:modified>
  <cp:category/>
</cp:coreProperties>
</file>